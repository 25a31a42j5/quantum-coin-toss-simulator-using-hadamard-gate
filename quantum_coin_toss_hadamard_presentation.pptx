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13" r:id="rId1"/>
  </p:sldMasterIdLst>
  <p:sldIdLst>
    <p:sldId id="256" r:id="rId2"/>
    <p:sldId id="264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5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309199D-39B5-4A77-82CB-5B3844F54813}" v="18" dt="2026-03-06T14:33:53.52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0" d="100"/>
          <a:sy n="70" d="100"/>
        </p:scale>
        <p:origin x="624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ya Deep Paul T" userId="6cf2a1aa9f4075f6" providerId="LiveId" clId="{ACE70E03-EBF7-4B51-B813-9E777340433A}"/>
    <pc:docChg chg="custSel modSld">
      <pc:chgData name="Jaya Deep Paul T" userId="6cf2a1aa9f4075f6" providerId="LiveId" clId="{ACE70E03-EBF7-4B51-B813-9E777340433A}" dt="2026-03-06T14:34:08.038" v="55" actId="1076"/>
      <pc:docMkLst>
        <pc:docMk/>
      </pc:docMkLst>
      <pc:sldChg chg="modSp mod">
        <pc:chgData name="Jaya Deep Paul T" userId="6cf2a1aa9f4075f6" providerId="LiveId" clId="{ACE70E03-EBF7-4B51-B813-9E777340433A}" dt="2026-03-06T14:34:08.038" v="55" actId="1076"/>
        <pc:sldMkLst>
          <pc:docMk/>
          <pc:sldMk cId="0" sldId="256"/>
        </pc:sldMkLst>
        <pc:spChg chg="mod">
          <ac:chgData name="Jaya Deep Paul T" userId="6cf2a1aa9f4075f6" providerId="LiveId" clId="{ACE70E03-EBF7-4B51-B813-9E777340433A}" dt="2026-03-06T14:34:08.038" v="55" actId="1076"/>
          <ac:spMkLst>
            <pc:docMk/>
            <pc:sldMk cId="0" sldId="256"/>
            <ac:spMk id="3" creationId="{00000000-0000-0000-0000-000000000000}"/>
          </ac:spMkLst>
        </pc:spChg>
      </pc:sldChg>
      <pc:sldChg chg="modSp mod">
        <pc:chgData name="Jaya Deep Paul T" userId="6cf2a1aa9f4075f6" providerId="LiveId" clId="{ACE70E03-EBF7-4B51-B813-9E777340433A}" dt="2026-03-06T14:15:52.842" v="8" actId="1076"/>
        <pc:sldMkLst>
          <pc:docMk/>
          <pc:sldMk cId="0" sldId="262"/>
        </pc:sldMkLst>
        <pc:spChg chg="mod">
          <ac:chgData name="Jaya Deep Paul T" userId="6cf2a1aa9f4075f6" providerId="LiveId" clId="{ACE70E03-EBF7-4B51-B813-9E777340433A}" dt="2026-03-06T14:15:49.011" v="7" actId="1076"/>
          <ac:spMkLst>
            <pc:docMk/>
            <pc:sldMk cId="0" sldId="262"/>
            <ac:spMk id="2" creationId="{00000000-0000-0000-0000-000000000000}"/>
          </ac:spMkLst>
        </pc:spChg>
        <pc:spChg chg="mod">
          <ac:chgData name="Jaya Deep Paul T" userId="6cf2a1aa9f4075f6" providerId="LiveId" clId="{ACE70E03-EBF7-4B51-B813-9E777340433A}" dt="2026-03-06T14:15:52.842" v="8" actId="1076"/>
          <ac:spMkLst>
            <pc:docMk/>
            <pc:sldMk cId="0" sldId="262"/>
            <ac:spMk id="3" creationId="{00000000-0000-0000-0000-000000000000}"/>
          </ac:spMkLst>
        </pc:spChg>
      </pc:sldChg>
      <pc:sldChg chg="modSp mod">
        <pc:chgData name="Jaya Deep Paul T" userId="6cf2a1aa9f4075f6" providerId="LiveId" clId="{ACE70E03-EBF7-4B51-B813-9E777340433A}" dt="2026-03-06T14:17:12.193" v="17" actId="1076"/>
        <pc:sldMkLst>
          <pc:docMk/>
          <pc:sldMk cId="0" sldId="263"/>
        </pc:sldMkLst>
        <pc:spChg chg="mod">
          <ac:chgData name="Jaya Deep Paul T" userId="6cf2a1aa9f4075f6" providerId="LiveId" clId="{ACE70E03-EBF7-4B51-B813-9E777340433A}" dt="2026-03-06T14:17:00.912" v="16" actId="1076"/>
          <ac:spMkLst>
            <pc:docMk/>
            <pc:sldMk cId="0" sldId="263"/>
            <ac:spMk id="2" creationId="{00000000-0000-0000-0000-000000000000}"/>
          </ac:spMkLst>
        </pc:spChg>
        <pc:spChg chg="mod">
          <ac:chgData name="Jaya Deep Paul T" userId="6cf2a1aa9f4075f6" providerId="LiveId" clId="{ACE70E03-EBF7-4B51-B813-9E777340433A}" dt="2026-03-06T14:17:12.193" v="17" actId="1076"/>
          <ac:spMkLst>
            <pc:docMk/>
            <pc:sldMk cId="0" sldId="263"/>
            <ac:spMk id="3" creationId="{00000000-0000-0000-0000-000000000000}"/>
          </ac:spMkLst>
        </pc:spChg>
      </pc:sldChg>
      <pc:sldChg chg="modAnim">
        <pc:chgData name="Jaya Deep Paul T" userId="6cf2a1aa9f4075f6" providerId="LiveId" clId="{ACE70E03-EBF7-4B51-B813-9E777340433A}" dt="2026-03-06T14:25:39.680" v="53"/>
        <pc:sldMkLst>
          <pc:docMk/>
          <pc:sldMk cId="100233062" sldId="264"/>
        </pc:sldMkLst>
      </pc:sldChg>
      <pc:sldChg chg="delSp modSp mod">
        <pc:chgData name="Jaya Deep Paul T" userId="6cf2a1aa9f4075f6" providerId="LiveId" clId="{ACE70E03-EBF7-4B51-B813-9E777340433A}" dt="2026-03-06T14:18:11.546" v="36" actId="207"/>
        <pc:sldMkLst>
          <pc:docMk/>
          <pc:sldMk cId="1873019821" sldId="265"/>
        </pc:sldMkLst>
        <pc:spChg chg="mod">
          <ac:chgData name="Jaya Deep Paul T" userId="6cf2a1aa9f4075f6" providerId="LiveId" clId="{ACE70E03-EBF7-4B51-B813-9E777340433A}" dt="2026-03-06T14:18:11.546" v="36" actId="207"/>
          <ac:spMkLst>
            <pc:docMk/>
            <pc:sldMk cId="1873019821" sldId="265"/>
            <ac:spMk id="2" creationId="{55E36217-E0CC-92D7-B03F-53221FE2C515}"/>
          </ac:spMkLst>
        </pc:spChg>
        <pc:spChg chg="del mod">
          <ac:chgData name="Jaya Deep Paul T" userId="6cf2a1aa9f4075f6" providerId="LiveId" clId="{ACE70E03-EBF7-4B51-B813-9E777340433A}" dt="2026-03-06T14:17:41.197" v="19" actId="21"/>
          <ac:spMkLst>
            <pc:docMk/>
            <pc:sldMk cId="1873019821" sldId="265"/>
            <ac:spMk id="3" creationId="{111969AE-34DA-C3A7-AF53-A72961A7FE5F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-1"/>
            <a:ext cx="9144002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6" name="Group 65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67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68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9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70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71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72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73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74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75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76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77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78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79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80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81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82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83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84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85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86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87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88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89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0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1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2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3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4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5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96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7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8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9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0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1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2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3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4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5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6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7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08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9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0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1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2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3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4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5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6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7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8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9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0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00238" y="1122363"/>
            <a:ext cx="6593681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900238" y="3602038"/>
            <a:ext cx="6593681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801052" y="5410202"/>
            <a:ext cx="2057400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900237" y="5410202"/>
            <a:ext cx="3843665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915603" y="5410200"/>
            <a:ext cx="578317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01924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le 1"/>
          <p:cNvSpPr>
            <a:spLocks noGrp="1"/>
          </p:cNvSpPr>
          <p:nvPr>
            <p:ph type="title"/>
          </p:nvPr>
        </p:nvSpPr>
        <p:spPr>
          <a:xfrm>
            <a:off x="856060" y="618518"/>
            <a:ext cx="7429499" cy="147857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8" name="Content Placeholder 2"/>
          <p:cNvSpPr>
            <a:spLocks noGrp="1"/>
          </p:cNvSpPr>
          <p:nvPr>
            <p:ph idx="1"/>
          </p:nvPr>
        </p:nvSpPr>
        <p:spPr>
          <a:xfrm>
            <a:off x="856060" y="2249487"/>
            <a:ext cx="7429499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9" name="Date Placeholder 3"/>
          <p:cNvSpPr>
            <a:spLocks noGrp="1"/>
          </p:cNvSpPr>
          <p:nvPr>
            <p:ph type="dt" sz="half" idx="10"/>
          </p:nvPr>
        </p:nvSpPr>
        <p:spPr>
          <a:xfrm>
            <a:off x="5592691" y="5883277"/>
            <a:ext cx="2057400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0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56059" y="5883276"/>
            <a:ext cx="467948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5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707241" y="5883275"/>
            <a:ext cx="578317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54857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58" y="1419227"/>
            <a:ext cx="74295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6058" y="4424362"/>
            <a:ext cx="74295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0584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56058" y="2249486"/>
            <a:ext cx="3658792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1" y="2249486"/>
            <a:ext cx="3656408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91225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58" y="619127"/>
            <a:ext cx="74295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78902" y="2249486"/>
            <a:ext cx="3435949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56058" y="3073398"/>
            <a:ext cx="3658793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51992" y="2249485"/>
            <a:ext cx="3433565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3073398"/>
            <a:ext cx="3656408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26663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88284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48335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0029" y="609601"/>
            <a:ext cx="2892028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67150" y="592666"/>
            <a:ext cx="4418407" cy="519853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0029" y="2249486"/>
            <a:ext cx="2892028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54910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61" y="609600"/>
            <a:ext cx="3753962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832866" y="609600"/>
            <a:ext cx="3452693" cy="5181602"/>
          </a:xfrm>
          <a:prstGeom prst="round2DiagRect">
            <a:avLst>
              <a:gd name="adj1" fmla="val 6074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6059" y="2249486"/>
            <a:ext cx="3753964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59397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58" y="4304665"/>
            <a:ext cx="7434266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56058" y="606426"/>
            <a:ext cx="7434266" cy="3299778"/>
          </a:xfrm>
          <a:prstGeom prst="round2DiagRect">
            <a:avLst>
              <a:gd name="adj1" fmla="val 5101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6024" y="5124020"/>
            <a:ext cx="7433144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39001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93" y="609600"/>
            <a:ext cx="7429466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6058" y="4419600"/>
            <a:ext cx="7428344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845047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4659" y="609600"/>
            <a:ext cx="6977064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290484" y="3365557"/>
            <a:ext cx="6564224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6058" y="4309919"/>
            <a:ext cx="74295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2" name="TextBox 51"/>
          <p:cNvSpPr txBox="1"/>
          <p:nvPr/>
        </p:nvSpPr>
        <p:spPr>
          <a:xfrm>
            <a:off x="696579" y="718458"/>
            <a:ext cx="4572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817473" y="2764972"/>
            <a:ext cx="4572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1886784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58" y="2134042"/>
            <a:ext cx="74295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6023" y="4657655"/>
            <a:ext cx="7428379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660854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856060" y="609600"/>
            <a:ext cx="74294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856058" y="2674463"/>
            <a:ext cx="2397674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856059" y="3360263"/>
            <a:ext cx="2396432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86075" y="2677635"/>
            <a:ext cx="238828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386075" y="3363435"/>
            <a:ext cx="238895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889332" y="2674463"/>
            <a:ext cx="2396226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5889332" y="3360263"/>
            <a:ext cx="2396226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376405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856059" y="609600"/>
            <a:ext cx="74294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856060" y="4404596"/>
            <a:ext cx="239643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856060" y="2666998"/>
            <a:ext cx="239643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18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856060" y="4980859"/>
            <a:ext cx="239643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66790" y="4404596"/>
            <a:ext cx="24003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366790" y="2666998"/>
            <a:ext cx="2399205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18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365695" y="4980857"/>
            <a:ext cx="24003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889426" y="4404595"/>
            <a:ext cx="2393056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5889332" y="2666998"/>
            <a:ext cx="2396227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18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5889332" y="4980855"/>
            <a:ext cx="2396226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cap="all" baseline="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195812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428359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781801" y="609600"/>
            <a:ext cx="1503758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56057" y="609600"/>
            <a:ext cx="5811443" cy="518160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35424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-1"/>
            <a:ext cx="9144002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9041774" cy="6858001"/>
            <a:chOff x="-14288" y="0"/>
            <a:chExt cx="9041774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8352798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56060" y="618518"/>
            <a:ext cx="7429499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6060" y="2249487"/>
            <a:ext cx="74294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592691" y="5883277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56059" y="5883276"/>
            <a:ext cx="46794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707241" y="5883275"/>
            <a:ext cx="5783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39391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14" r:id="rId1"/>
    <p:sldLayoutId id="2147483715" r:id="rId2"/>
    <p:sldLayoutId id="2147483716" r:id="rId3"/>
    <p:sldLayoutId id="2147483717" r:id="rId4"/>
    <p:sldLayoutId id="2147483718" r:id="rId5"/>
    <p:sldLayoutId id="2147483719" r:id="rId6"/>
    <p:sldLayoutId id="2147483720" r:id="rId7"/>
    <p:sldLayoutId id="2147483721" r:id="rId8"/>
    <p:sldLayoutId id="2147483722" r:id="rId9"/>
    <p:sldLayoutId id="2147483723" r:id="rId10"/>
    <p:sldLayoutId id="2147483724" r:id="rId11"/>
    <p:sldLayoutId id="2147483725" r:id="rId12"/>
    <p:sldLayoutId id="2147483726" r:id="rId13"/>
    <p:sldLayoutId id="2147483727" r:id="rId14"/>
    <p:sldLayoutId id="2147483728" r:id="rId15"/>
    <p:sldLayoutId id="2147483729" r:id="rId16"/>
    <p:sldLayoutId id="2147483730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75159" y="2537111"/>
            <a:ext cx="6593681" cy="1655762"/>
          </a:xfrm>
        </p:spPr>
        <p:txBody>
          <a:bodyPr/>
          <a:lstStyle/>
          <a:p>
            <a:pPr algn="ctr"/>
            <a:r>
              <a:rPr sz="3200" dirty="0">
                <a:solidFill>
                  <a:schemeClr val="tx2">
                    <a:lumMod val="40000"/>
                    <a:lumOff val="60000"/>
                  </a:schemeClr>
                </a:solidFill>
                <a:latin typeface="Agency FB" panose="020B0503020202020204" pitchFamily="34" charset="0"/>
              </a:rPr>
              <a:t>Quantum Coin Toss Simulator Using Hadamard Gate</a:t>
            </a:r>
          </a:p>
          <a:p>
            <a:endParaRPr lang="en-US" dirty="0"/>
          </a:p>
          <a:p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A09C3A-2304-68B0-FBD1-02450767FD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1623" y="2564384"/>
            <a:ext cx="6347713" cy="1729232"/>
          </a:xfrm>
        </p:spPr>
        <p:txBody>
          <a:bodyPr>
            <a:noAutofit/>
          </a:bodyPr>
          <a:lstStyle/>
          <a:p>
            <a:r>
              <a:rPr lang="en-US" sz="2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CONTRIBUTORS</a:t>
            </a:r>
            <a:br>
              <a:rPr lang="en-US" sz="2800" dirty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2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                    	</a:t>
            </a:r>
            <a:br>
              <a:rPr lang="en-US" sz="2800" dirty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2800" dirty="0">
                <a:solidFill>
                  <a:schemeClr val="tx2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</a:t>
            </a:r>
            <a:r>
              <a:rPr lang="en-US" sz="2800" dirty="0" err="1">
                <a:solidFill>
                  <a:schemeClr val="tx2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R.Navadeep</a:t>
            </a:r>
            <a:br>
              <a:rPr lang="en-US" sz="2800" dirty="0">
                <a:solidFill>
                  <a:schemeClr val="tx2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</a:br>
            <a:r>
              <a:rPr lang="en-US" sz="2800" dirty="0">
                <a:solidFill>
                  <a:schemeClr val="tx2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</a:t>
            </a:r>
            <a:r>
              <a:rPr lang="en-US" sz="2800" dirty="0" err="1">
                <a:solidFill>
                  <a:schemeClr val="tx2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T.Jayadeep</a:t>
            </a:r>
            <a:r>
              <a:rPr lang="en-US" sz="2800" dirty="0">
                <a:solidFill>
                  <a:schemeClr val="tx2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sz="2800" dirty="0" err="1">
                <a:solidFill>
                  <a:schemeClr val="tx2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paul</a:t>
            </a:r>
            <a:br>
              <a:rPr lang="en-US" sz="2800" dirty="0">
                <a:solidFill>
                  <a:schemeClr val="tx2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</a:br>
            <a:r>
              <a:rPr lang="en-US" sz="2800" dirty="0">
                <a:solidFill>
                  <a:schemeClr val="tx2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</a:t>
            </a:r>
            <a:r>
              <a:rPr lang="en-US" sz="2800" dirty="0" err="1">
                <a:solidFill>
                  <a:schemeClr val="tx2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S.Sai</a:t>
            </a:r>
            <a:r>
              <a:rPr lang="en-US" sz="2800" dirty="0">
                <a:solidFill>
                  <a:schemeClr val="tx2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 Vaibhav</a:t>
            </a:r>
            <a:br>
              <a:rPr lang="en-US" sz="2800" dirty="0">
                <a:solidFill>
                  <a:schemeClr val="tx2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</a:br>
            <a:r>
              <a:rPr lang="en-US" sz="2800" dirty="0">
                <a:solidFill>
                  <a:schemeClr val="tx2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</a:t>
            </a:r>
            <a:r>
              <a:rPr lang="en-US" sz="2800" dirty="0" err="1">
                <a:solidFill>
                  <a:schemeClr val="tx2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A.Samuel</a:t>
            </a:r>
            <a:r>
              <a:rPr lang="en-US" sz="2800" dirty="0">
                <a:solidFill>
                  <a:schemeClr val="tx2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sz="2800" dirty="0" err="1">
                <a:solidFill>
                  <a:schemeClr val="tx2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keerthan</a:t>
            </a:r>
            <a:br>
              <a:rPr lang="en-US" sz="2800" dirty="0">
                <a:solidFill>
                  <a:schemeClr val="tx2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</a:br>
            <a:r>
              <a:rPr lang="en-US" sz="2800" dirty="0">
                <a:solidFill>
                  <a:schemeClr val="tx2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</a:t>
            </a:r>
            <a:r>
              <a:rPr lang="en-US" sz="2800" dirty="0" err="1">
                <a:solidFill>
                  <a:schemeClr val="tx2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P.satya</a:t>
            </a:r>
            <a:r>
              <a:rPr lang="en-US" sz="2800" dirty="0">
                <a:solidFill>
                  <a:schemeClr val="tx2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 Santhosh</a:t>
            </a:r>
            <a:br>
              <a:rPr lang="en-US" sz="2800" dirty="0">
                <a:solidFill>
                  <a:schemeClr val="tx2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</a:br>
            <a:r>
              <a:rPr lang="en-US" sz="2800" dirty="0">
                <a:solidFill>
                  <a:schemeClr val="tx2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</a:t>
            </a:r>
            <a:r>
              <a:rPr lang="en-US" sz="2800" dirty="0" err="1">
                <a:solidFill>
                  <a:schemeClr val="tx2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B.Gagan</a:t>
            </a:r>
            <a:r>
              <a:rPr lang="en-US" sz="2800" dirty="0">
                <a:solidFill>
                  <a:schemeClr val="tx2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sz="2800" dirty="0" err="1">
                <a:solidFill>
                  <a:schemeClr val="tx2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rohith</a:t>
            </a:r>
            <a:br>
              <a:rPr lang="en-US" sz="2800" dirty="0">
                <a:solidFill>
                  <a:schemeClr val="tx2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</a:br>
            <a:r>
              <a:rPr lang="en-US" sz="2800" dirty="0">
                <a:solidFill>
                  <a:schemeClr val="tx2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</a:t>
            </a:r>
            <a:r>
              <a:rPr lang="en-US" sz="2800" dirty="0" err="1">
                <a:solidFill>
                  <a:schemeClr val="tx2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R.Aravind</a:t>
            </a:r>
            <a:br>
              <a:rPr lang="en-US" sz="2800" dirty="0">
                <a:solidFill>
                  <a:schemeClr val="tx2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</a:br>
            <a:r>
              <a:rPr lang="en-US" sz="2800" dirty="0">
                <a:solidFill>
                  <a:schemeClr val="tx2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</a:t>
            </a:r>
            <a:r>
              <a:rPr lang="en-US" sz="2800" dirty="0" err="1">
                <a:solidFill>
                  <a:schemeClr val="tx2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N.Sri</a:t>
            </a:r>
            <a:r>
              <a:rPr lang="en-US" sz="2800" dirty="0">
                <a:solidFill>
                  <a:schemeClr val="tx2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 ram</a:t>
            </a:r>
            <a:br>
              <a:rPr lang="en-US" sz="2800" dirty="0">
                <a:solidFill>
                  <a:schemeClr val="tx2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</a:br>
            <a:r>
              <a:rPr lang="en-US" sz="2800" dirty="0">
                <a:solidFill>
                  <a:schemeClr val="tx2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</a:t>
            </a:r>
            <a:r>
              <a:rPr lang="en-US" sz="2800" dirty="0" err="1">
                <a:solidFill>
                  <a:schemeClr val="tx2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G.Bhanu</a:t>
            </a:r>
            <a:r>
              <a:rPr lang="en-US" sz="2800" dirty="0">
                <a:solidFill>
                  <a:schemeClr val="tx2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sz="2800" dirty="0" err="1">
                <a:solidFill>
                  <a:schemeClr val="tx2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lakshmikanth</a:t>
            </a:r>
            <a:br>
              <a:rPr lang="en-US" sz="2800" dirty="0">
                <a:solidFill>
                  <a:schemeClr val="tx2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</a:br>
            <a:r>
              <a:rPr lang="en-US" sz="2800" dirty="0">
                <a:solidFill>
                  <a:schemeClr val="tx2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</a:t>
            </a:r>
            <a:r>
              <a:rPr lang="en-US" sz="2800" dirty="0" err="1">
                <a:solidFill>
                  <a:schemeClr val="tx2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A.Ganesh</a:t>
            </a:r>
            <a:endParaRPr lang="en-IN" sz="28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  <p:pic>
        <p:nvPicPr>
          <p:cNvPr id="5" name="Content Placeholder 4" descr="Boardroom with solid fill">
            <a:extLst>
              <a:ext uri="{FF2B5EF4-FFF2-40B4-BE49-F238E27FC236}">
                <a16:creationId xmlns:a16="http://schemas.microsoft.com/office/drawing/2014/main" id="{7E9FD31A-4831-621D-B54D-137D248A8FC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62247" y="941832"/>
            <a:ext cx="914400" cy="658368"/>
          </a:xfrm>
        </p:spPr>
      </p:pic>
    </p:spTree>
    <p:extLst>
      <p:ext uri="{BB962C8B-B14F-4D97-AF65-F5344CB8AC3E}">
        <p14:creationId xmlns:p14="http://schemas.microsoft.com/office/powerpoint/2010/main" val="100233062"/>
      </p:ext>
    </p:extLst>
  </p:cSld>
  <p:clrMapOvr>
    <a:masterClrMapping/>
  </p:clrMapOvr>
  <p:transition spd="slow">
    <p:wip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4932" y="1450847"/>
            <a:ext cx="7429499" cy="1478570"/>
          </a:xfrm>
        </p:spPr>
        <p:txBody>
          <a:bodyPr/>
          <a:lstStyle/>
          <a:p>
            <a:r>
              <a:rPr dirty="0">
                <a:solidFill>
                  <a:schemeClr val="tx2">
                    <a:lumMod val="40000"/>
                    <a:lumOff val="60000"/>
                  </a:schemeClr>
                </a:solidFill>
              </a:rPr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57250" y="2633535"/>
            <a:ext cx="7429499" cy="3541714"/>
          </a:xfrm>
        </p:spPr>
        <p:txBody>
          <a:bodyPr/>
          <a:lstStyle/>
          <a:p>
            <a:r>
              <a:rPr dirty="0">
                <a:solidFill>
                  <a:schemeClr val="tx2">
                    <a:lumMod val="40000"/>
                    <a:lumOff val="60000"/>
                  </a:schemeClr>
                </a:solidFill>
              </a:rPr>
              <a:t>• Quantum computing uses qubits instead of classical bits</a:t>
            </a:r>
          </a:p>
          <a:p>
            <a:r>
              <a:rPr dirty="0">
                <a:solidFill>
                  <a:schemeClr val="tx2">
                    <a:lumMod val="40000"/>
                    <a:lumOff val="60000"/>
                  </a:schemeClr>
                </a:solidFill>
              </a:rPr>
              <a:t>• Qubits can exist in superposition</a:t>
            </a:r>
          </a:p>
          <a:p>
            <a:r>
              <a:rPr dirty="0">
                <a:solidFill>
                  <a:schemeClr val="tx2">
                    <a:lumMod val="40000"/>
                    <a:lumOff val="60000"/>
                  </a:schemeClr>
                </a:solidFill>
              </a:rPr>
              <a:t>• A quantum coin toss simulates randomness using quantum principles</a:t>
            </a:r>
          </a:p>
        </p:txBody>
      </p:sp>
    </p:spTree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60" y="1523774"/>
            <a:ext cx="7429499" cy="1478570"/>
          </a:xfrm>
        </p:spPr>
        <p:txBody>
          <a:bodyPr/>
          <a:lstStyle/>
          <a:p>
            <a:r>
              <a:rPr dirty="0">
                <a:solidFill>
                  <a:schemeClr val="tx2">
                    <a:lumMod val="40000"/>
                    <a:lumOff val="60000"/>
                  </a:schemeClr>
                </a:solidFill>
              </a:rPr>
              <a:t>Classical vs Quantum Coin Toss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56060" y="2651823"/>
            <a:ext cx="7429499" cy="3541714"/>
          </a:xfrm>
        </p:spPr>
        <p:txBody>
          <a:bodyPr/>
          <a:lstStyle/>
          <a:p>
            <a:r>
              <a:rPr dirty="0">
                <a:solidFill>
                  <a:schemeClr val="tx2">
                    <a:lumMod val="40000"/>
                    <a:lumOff val="60000"/>
                  </a:schemeClr>
                </a:solidFill>
              </a:rPr>
              <a:t>• Classical coin: Heads or Tails</a:t>
            </a:r>
          </a:p>
          <a:p>
            <a:r>
              <a:rPr dirty="0">
                <a:solidFill>
                  <a:schemeClr val="tx2">
                    <a:lumMod val="40000"/>
                    <a:lumOff val="60000"/>
                  </a:schemeClr>
                </a:solidFill>
              </a:rPr>
              <a:t>• Quantum coin: both states at the same time (superposition)</a:t>
            </a:r>
          </a:p>
          <a:p>
            <a:r>
              <a:rPr dirty="0">
                <a:solidFill>
                  <a:schemeClr val="tx2">
                    <a:lumMod val="40000"/>
                    <a:lumOff val="60000"/>
                  </a:schemeClr>
                </a:solidFill>
              </a:rPr>
              <a:t>• Measurement collapses the state to 0 or 1</a:t>
            </a:r>
          </a:p>
        </p:txBody>
      </p:sp>
    </p:spTree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60" y="1788950"/>
            <a:ext cx="7429499" cy="1478570"/>
          </a:xfrm>
        </p:spPr>
        <p:txBody>
          <a:bodyPr/>
          <a:lstStyle/>
          <a:p>
            <a:r>
              <a:rPr dirty="0">
                <a:solidFill>
                  <a:schemeClr val="tx2">
                    <a:lumMod val="40000"/>
                    <a:lumOff val="60000"/>
                  </a:schemeClr>
                </a:solidFill>
              </a:rPr>
              <a:t>Qubit Representation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56060" y="2971863"/>
            <a:ext cx="7429499" cy="3541714"/>
          </a:xfrm>
        </p:spPr>
        <p:txBody>
          <a:bodyPr/>
          <a:lstStyle/>
          <a:p>
            <a:r>
              <a:rPr dirty="0">
                <a:solidFill>
                  <a:schemeClr val="tx2">
                    <a:lumMod val="40000"/>
                    <a:lumOff val="60000"/>
                  </a:schemeClr>
                </a:solidFill>
              </a:rPr>
              <a:t>• A qubit can be |0⟩ or |1⟩</a:t>
            </a:r>
          </a:p>
          <a:p>
            <a:r>
              <a:rPr dirty="0">
                <a:solidFill>
                  <a:schemeClr val="tx2">
                    <a:lumMod val="40000"/>
                    <a:lumOff val="60000"/>
                  </a:schemeClr>
                </a:solidFill>
              </a:rPr>
              <a:t>• It can also be a combination of both states</a:t>
            </a:r>
          </a:p>
          <a:p>
            <a:r>
              <a:rPr dirty="0">
                <a:solidFill>
                  <a:schemeClr val="tx2">
                    <a:lumMod val="40000"/>
                    <a:lumOff val="60000"/>
                  </a:schemeClr>
                </a:solidFill>
              </a:rPr>
              <a:t>• Represented as: |ψ⟩ = α|0⟩ + β|1⟩</a:t>
            </a:r>
          </a:p>
        </p:txBody>
      </p:sp>
    </p:spTree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0068" y="1741851"/>
            <a:ext cx="7429499" cy="1478570"/>
          </a:xfrm>
        </p:spPr>
        <p:txBody>
          <a:bodyPr/>
          <a:lstStyle/>
          <a:p>
            <a:r>
              <a:rPr dirty="0">
                <a:solidFill>
                  <a:schemeClr val="tx2">
                    <a:lumMod val="40000"/>
                    <a:lumOff val="60000"/>
                  </a:schemeClr>
                </a:solidFill>
              </a:rPr>
              <a:t>Hadamard Gate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57250" y="2971863"/>
            <a:ext cx="7429499" cy="3541714"/>
          </a:xfrm>
        </p:spPr>
        <p:txBody>
          <a:bodyPr/>
          <a:lstStyle/>
          <a:p>
            <a:r>
              <a:rPr dirty="0">
                <a:solidFill>
                  <a:schemeClr val="tx2">
                    <a:lumMod val="40000"/>
                    <a:lumOff val="60000"/>
                  </a:schemeClr>
                </a:solidFill>
              </a:rPr>
              <a:t>• Hadamard gate creates superposition</a:t>
            </a:r>
          </a:p>
          <a:p>
            <a:r>
              <a:rPr dirty="0">
                <a:solidFill>
                  <a:schemeClr val="tx2">
                    <a:lumMod val="40000"/>
                    <a:lumOff val="60000"/>
                  </a:schemeClr>
                </a:solidFill>
              </a:rPr>
              <a:t>• It transforms |0⟩ → (|0⟩ + |1⟩)/√2</a:t>
            </a:r>
          </a:p>
          <a:p>
            <a:r>
              <a:rPr dirty="0">
                <a:solidFill>
                  <a:schemeClr val="tx2">
                    <a:lumMod val="40000"/>
                    <a:lumOff val="60000"/>
                  </a:schemeClr>
                </a:solidFill>
              </a:rPr>
              <a:t>• It transforms |1⟩ → (|0⟩ − |1⟩)/√2</a:t>
            </a:r>
          </a:p>
        </p:txBody>
      </p:sp>
    </p:spTree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60" y="1357803"/>
            <a:ext cx="7429499" cy="1478570"/>
          </a:xfrm>
        </p:spPr>
        <p:txBody>
          <a:bodyPr/>
          <a:lstStyle/>
          <a:p>
            <a:r>
              <a:rPr dirty="0">
                <a:solidFill>
                  <a:schemeClr val="tx2">
                    <a:lumMod val="40000"/>
                    <a:lumOff val="60000"/>
                  </a:schemeClr>
                </a:solidFill>
              </a:rPr>
              <a:t>Quantum Coin Toss Process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56060" y="2725488"/>
            <a:ext cx="7429499" cy="3541714"/>
          </a:xfrm>
        </p:spPr>
        <p:txBody>
          <a:bodyPr/>
          <a:lstStyle/>
          <a:p>
            <a:r>
              <a:rPr dirty="0">
                <a:solidFill>
                  <a:schemeClr val="tx2">
                    <a:lumMod val="40000"/>
                    <a:lumOff val="60000"/>
                  </a:schemeClr>
                </a:solidFill>
              </a:rPr>
              <a:t>• Start with qubit in state |0⟩</a:t>
            </a:r>
          </a:p>
          <a:p>
            <a:r>
              <a:rPr dirty="0">
                <a:solidFill>
                  <a:schemeClr val="tx2">
                    <a:lumMod val="40000"/>
                    <a:lumOff val="60000"/>
                  </a:schemeClr>
                </a:solidFill>
              </a:rPr>
              <a:t>• Apply Hadamard Gate</a:t>
            </a:r>
          </a:p>
          <a:p>
            <a:r>
              <a:rPr dirty="0">
                <a:solidFill>
                  <a:schemeClr val="tx2">
                    <a:lumMod val="40000"/>
                    <a:lumOff val="60000"/>
                  </a:schemeClr>
                </a:solidFill>
              </a:rPr>
              <a:t>• Qubit enters superposition</a:t>
            </a:r>
          </a:p>
          <a:p>
            <a:r>
              <a:rPr dirty="0">
                <a:solidFill>
                  <a:schemeClr val="tx2">
                    <a:lumMod val="40000"/>
                    <a:lumOff val="60000"/>
                  </a:schemeClr>
                </a:solidFill>
              </a:rPr>
              <a:t>• Measure the qubit to get result</a:t>
            </a:r>
          </a:p>
        </p:txBody>
      </p:sp>
    </p:spTree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60" y="1688366"/>
            <a:ext cx="7429499" cy="1478570"/>
          </a:xfrm>
        </p:spPr>
        <p:txBody>
          <a:bodyPr/>
          <a:lstStyle/>
          <a:p>
            <a:r>
              <a:rPr dirty="0">
                <a:solidFill>
                  <a:schemeClr val="tx2">
                    <a:lumMod val="40000"/>
                    <a:lumOff val="60000"/>
                  </a:schemeClr>
                </a:solidFill>
              </a:rPr>
              <a:t>Result of Simulation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56060" y="2962719"/>
            <a:ext cx="7429499" cy="3541714"/>
          </a:xfrm>
        </p:spPr>
        <p:txBody>
          <a:bodyPr/>
          <a:lstStyle/>
          <a:p>
            <a:r>
              <a:rPr dirty="0">
                <a:solidFill>
                  <a:schemeClr val="tx2">
                    <a:lumMod val="40000"/>
                    <a:lumOff val="60000"/>
                  </a:schemeClr>
                </a:solidFill>
              </a:rPr>
              <a:t>• Measurement gives 0 or 1</a:t>
            </a:r>
          </a:p>
          <a:p>
            <a:r>
              <a:rPr dirty="0">
                <a:solidFill>
                  <a:schemeClr val="tx2">
                    <a:lumMod val="40000"/>
                    <a:lumOff val="60000"/>
                  </a:schemeClr>
                </a:solidFill>
              </a:rPr>
              <a:t>• Both outcomes have equal probability</a:t>
            </a:r>
          </a:p>
          <a:p>
            <a:r>
              <a:rPr dirty="0">
                <a:solidFill>
                  <a:schemeClr val="tx2">
                    <a:lumMod val="40000"/>
                    <a:lumOff val="60000"/>
                  </a:schemeClr>
                </a:solidFill>
              </a:rPr>
              <a:t>• This simulates a fair coin toss</a:t>
            </a:r>
          </a:p>
        </p:txBody>
      </p:sp>
    </p:spTree>
  </p:cSld>
  <p:clrMapOvr>
    <a:masterClrMapping/>
  </p:clrMapOvr>
  <p:transition spd="slow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60" y="1745760"/>
            <a:ext cx="7429499" cy="1478570"/>
          </a:xfrm>
        </p:spPr>
        <p:txBody>
          <a:bodyPr/>
          <a:lstStyle/>
          <a:p>
            <a:r>
              <a:rPr dirty="0">
                <a:solidFill>
                  <a:schemeClr val="tx2">
                    <a:lumMod val="40000"/>
                    <a:lumOff val="60000"/>
                  </a:schemeClr>
                </a:solidFill>
              </a:rP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56059" y="2935287"/>
            <a:ext cx="7429499" cy="3541714"/>
          </a:xfrm>
        </p:spPr>
        <p:txBody>
          <a:bodyPr/>
          <a:lstStyle/>
          <a:p>
            <a:r>
              <a:rPr dirty="0">
                <a:solidFill>
                  <a:schemeClr val="tx2">
                    <a:lumMod val="40000"/>
                    <a:lumOff val="60000"/>
                  </a:schemeClr>
                </a:solidFill>
              </a:rPr>
              <a:t>• Quantum coin toss uses superposition</a:t>
            </a:r>
          </a:p>
          <a:p>
            <a:r>
              <a:rPr dirty="0">
                <a:solidFill>
                  <a:schemeClr val="tx2">
                    <a:lumMod val="40000"/>
                    <a:lumOff val="60000"/>
                  </a:schemeClr>
                </a:solidFill>
              </a:rPr>
              <a:t>• Hadamard gate is key to creating randomness</a:t>
            </a:r>
          </a:p>
          <a:p>
            <a:r>
              <a:rPr dirty="0">
                <a:solidFill>
                  <a:schemeClr val="tx2">
                    <a:lumMod val="40000"/>
                    <a:lumOff val="60000"/>
                  </a:schemeClr>
                </a:solidFill>
              </a:rPr>
              <a:t>• Demonstrates basic quantum computing principles</a:t>
            </a:r>
          </a:p>
        </p:txBody>
      </p:sp>
    </p:spTree>
  </p:cSld>
  <p:clrMapOvr>
    <a:masterClrMapping/>
  </p:clrMapOvr>
  <p:transition spd="slow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E36217-E0CC-92D7-B03F-53221FE2C5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2377" y="2384868"/>
            <a:ext cx="2719246" cy="1044132"/>
          </a:xfrm>
        </p:spPr>
        <p:txBody>
          <a:bodyPr/>
          <a:lstStyle/>
          <a:p>
            <a:r>
              <a:rPr lang="en-US" dirty="0">
                <a:solidFill>
                  <a:schemeClr val="tx2">
                    <a:lumMod val="40000"/>
                    <a:lumOff val="60000"/>
                  </a:schemeClr>
                </a:solidFill>
              </a:rPr>
              <a:t>THANK you</a:t>
            </a:r>
            <a:endParaRPr lang="en-IN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73019821"/>
      </p:ext>
    </p:extLst>
  </p:cSld>
  <p:clrMapOvr>
    <a:masterClrMapping/>
  </p:clrMapOvr>
  <p:transition spd="slow">
    <p:comb/>
  </p:transition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TM04033919[[fn=Circuit]]</Template>
  <TotalTime>293</TotalTime>
  <Words>281</Words>
  <Application>Microsoft Office PowerPoint</Application>
  <PresentationFormat>On-screen Show (4:3)</PresentationFormat>
  <Paragraphs>32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Agency FB</vt:lpstr>
      <vt:lpstr>Arial</vt:lpstr>
      <vt:lpstr>Tw Cen MT</vt:lpstr>
      <vt:lpstr>Wingdings</vt:lpstr>
      <vt:lpstr>Circuit</vt:lpstr>
      <vt:lpstr>PowerPoint Presentation</vt:lpstr>
      <vt:lpstr>CONTRIBUTORS                        R.Navadeep T.Jayadeep paul S.Sai Vaibhav A.Samuel keerthan P.satya Santhosh B.Gagan rohith R.Aravind N.Sri ram G.Bhanu lakshmikanth A.Ganesh</vt:lpstr>
      <vt:lpstr>Introduction</vt:lpstr>
      <vt:lpstr>Classical vs Quantum Coin Toss</vt:lpstr>
      <vt:lpstr>Qubit Representation</vt:lpstr>
      <vt:lpstr>Hadamard Gate</vt:lpstr>
      <vt:lpstr>Quantum Coin Toss Process</vt:lpstr>
      <vt:lpstr>Result of Simulation</vt:lpstr>
      <vt:lpstr>Conclusion</vt:lpstr>
      <vt:lpstr>THANK you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Jaya Deep Paul T</cp:lastModifiedBy>
  <cp:revision>3</cp:revision>
  <dcterms:created xsi:type="dcterms:W3CDTF">2013-01-27T09:14:16Z</dcterms:created>
  <dcterms:modified xsi:type="dcterms:W3CDTF">2026-03-06T14:34:12Z</dcterms:modified>
  <cp:category/>
</cp:coreProperties>
</file>